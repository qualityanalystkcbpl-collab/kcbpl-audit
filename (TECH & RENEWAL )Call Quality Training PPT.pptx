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70" r:id="rId12"/>
    <p:sldId id="271" r:id="rId13"/>
    <p:sldId id="266" r:id="rId14"/>
    <p:sldId id="268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4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4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7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7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4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5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1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77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00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7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5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39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3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92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7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A380C6B-BEFD-48CE-B613-08B748461A0B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5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Call Quality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GTPL-KCBPL /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catv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bb tech / bb renewal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7" y="590371"/>
            <a:ext cx="6871062" cy="10868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743C0A8-95FD-A7B6-3DAA-4A4781B6BF56}"/>
              </a:ext>
            </a:extLst>
          </p:cNvPr>
          <p:cNvSpPr/>
          <p:nvPr/>
        </p:nvSpPr>
        <p:spPr>
          <a:xfrm>
            <a:off x="4706983" y="2530218"/>
            <a:ext cx="694944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743C0A8-95FD-A7B6-3DAA-4A4781B6BF56}"/>
              </a:ext>
            </a:extLst>
          </p:cNvPr>
          <p:cNvSpPr/>
          <p:nvPr/>
        </p:nvSpPr>
        <p:spPr>
          <a:xfrm>
            <a:off x="3031173" y="2663672"/>
            <a:ext cx="694944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5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BF2F8D4-F238-4A4B-B3B9-DCAED61232D6}"/>
              </a:ext>
            </a:extLst>
          </p:cNvPr>
          <p:cNvSpPr/>
          <p:nvPr/>
        </p:nvSpPr>
        <p:spPr>
          <a:xfrm rot="16200000">
            <a:off x="3826431" y="454887"/>
            <a:ext cx="64008" cy="7680960"/>
          </a:xfrm>
          <a:prstGeom prst="rect">
            <a:avLst/>
          </a:prstGeom>
          <a:solidFill>
            <a:srgbClr val="3450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FF35689-154B-4355-8E11-9F3DEF9E2E3C}"/>
              </a:ext>
            </a:extLst>
          </p:cNvPr>
          <p:cNvSpPr/>
          <p:nvPr/>
        </p:nvSpPr>
        <p:spPr>
          <a:xfrm rot="5400000">
            <a:off x="3460671" y="957116"/>
            <a:ext cx="64008" cy="6949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1">
            <a:extLst>
              <a:ext uri="{FF2B5EF4-FFF2-40B4-BE49-F238E27FC236}">
                <a16:creationId xmlns="" xmlns:a16="http://schemas.microsoft.com/office/drawing/2014/main" id="{6897412D-67F5-45D9-87C0-60F7BFF727E2}"/>
              </a:ext>
            </a:extLst>
          </p:cNvPr>
          <p:cNvSpPr txBox="1">
            <a:spLocks/>
          </p:cNvSpPr>
          <p:nvPr/>
        </p:nvSpPr>
        <p:spPr>
          <a:xfrm>
            <a:off x="2116183" y="2899954"/>
            <a:ext cx="3211142" cy="1077218"/>
          </a:xfrm>
          <a:prstGeom prst="rect">
            <a:avLst/>
          </a:prstGeom>
          <a:noFill/>
          <a:ln w="171450">
            <a:gradFill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 smtClean="0">
                <a:solidFill>
                  <a:srgbClr val="002060"/>
                </a:solidFill>
                <a:latin typeface="Agency FB" panose="020B0503020202020204" pitchFamily="34" charset="0"/>
                <a:ea typeface="+mn-ea"/>
                <a:cs typeface="+mn-cs"/>
              </a:rPr>
              <a:t>TECH SUPPORT AND RENEWAL</a:t>
            </a:r>
            <a:endParaRPr lang="en-US" sz="900" b="1" dirty="0">
              <a:solidFill>
                <a:srgbClr val="00CAF9"/>
              </a:solidFill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" y="5580753"/>
            <a:ext cx="3528060" cy="996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916" y="1463040"/>
            <a:ext cx="3986586" cy="4872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624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8825659" cy="10902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Opening Script : ( Opening giving within 3 seconds from call landed 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9752532" cy="3653609"/>
          </a:xfrm>
        </p:spPr>
        <p:txBody>
          <a:bodyPr>
            <a:noAutofit/>
          </a:bodyPr>
          <a:lstStyle/>
          <a:p>
            <a:r>
              <a:rPr lang="en-US" sz="2400" b="1" dirty="0"/>
              <a:t>English :"""Good Morning/Afternoon/Evening, Welcome to GTPL-KCBPL, this is &lt;Agent Name&gt;, how may I help you/assist </a:t>
            </a:r>
            <a:r>
              <a:rPr lang="en-US" sz="2400" b="1" dirty="0" smtClean="0"/>
              <a:t>you</a:t>
            </a:r>
          </a:p>
          <a:p>
            <a:r>
              <a:rPr lang="en-US" sz="2400" b="1" dirty="0" smtClean="0"/>
              <a:t>"</a:t>
            </a:r>
            <a:r>
              <a:rPr lang="en-US" sz="2400" b="1" dirty="0"/>
              <a:t>Bengali :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bn-IN" sz="2400" b="1" dirty="0">
                <a:solidFill>
                  <a:schemeClr val="accent6">
                    <a:lumMod val="75000"/>
                  </a:schemeClr>
                </a:solidFill>
              </a:rPr>
              <a:t>নমস্কার, জিটিপিএল-কেসিবিপিএল এ আপনাকে স্বাগত, আমি &lt;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Advisor Name&gt; </a:t>
            </a:r>
            <a:r>
              <a:rPr lang="bn-IN" sz="2400" b="1" dirty="0">
                <a:solidFill>
                  <a:schemeClr val="accent6">
                    <a:lumMod val="75000"/>
                  </a:schemeClr>
                </a:solidFill>
              </a:rPr>
              <a:t>কি ভাবে আপনার সাহায্য করতে পারি </a:t>
            </a:r>
            <a:r>
              <a:rPr lang="bn-IN" sz="2400" b="1" dirty="0" smtClean="0">
                <a:solidFill>
                  <a:schemeClr val="accent6">
                    <a:lumMod val="75000"/>
                  </a:schemeClr>
                </a:solidFill>
              </a:rPr>
              <a:t>?”</a:t>
            </a: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758733"/>
            <a:ext cx="3528060" cy="996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3955" y="6416928"/>
            <a:ext cx="6962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*** This statement is mandatory on every call (LCO and customer).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54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9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Paraphrased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b="1" dirty="0"/>
              <a:t>"&lt;Customer Name&gt; if I have correctly understood, you want to know about &lt;Short summary of query&gt; </a:t>
            </a:r>
          </a:p>
          <a:p>
            <a:r>
              <a:rPr lang="bn-IN" sz="2800" b="1" dirty="0" smtClean="0"/>
              <a:t>যদি </a:t>
            </a:r>
            <a:r>
              <a:rPr lang="bn-IN" sz="2800" b="1" dirty="0"/>
              <a:t>আমি সঠিকভাবে বুঝতে পারি, আপনি &lt;কয়েরির সংক্ষিপ্ত সারাংশ&gt; সম্পর্কে জানতে চান </a:t>
            </a:r>
            <a:r>
              <a:rPr lang="bn-IN" sz="2800" b="1" dirty="0" smtClean="0"/>
              <a:t>?</a:t>
            </a:r>
            <a:endParaRPr lang="en-US" sz="2800" b="1" dirty="0" smtClean="0"/>
          </a:p>
          <a:p>
            <a:pPr lvl="4"/>
            <a:r>
              <a:rPr lang="en-US" sz="2200" b="1" dirty="0" smtClean="0"/>
              <a:t>OR ------</a:t>
            </a:r>
          </a:p>
          <a:p>
            <a:r>
              <a:rPr lang="bn-IN" sz="2800" b="1" dirty="0" smtClean="0">
                <a:solidFill>
                  <a:schemeClr val="accent6">
                    <a:lumMod val="50000"/>
                  </a:schemeClr>
                </a:solidFill>
              </a:rPr>
              <a:t>আপনি </a:t>
            </a:r>
            <a:r>
              <a:rPr lang="bn-IN" sz="2800" b="1" dirty="0">
                <a:solidFill>
                  <a:schemeClr val="accent6">
                    <a:lumMod val="50000"/>
                  </a:schemeClr>
                </a:solidFill>
              </a:rPr>
              <a:t>&lt;কয়েরির সংক্ষিপ্ত সারাংশ&gt; সম্পর্কে জানতে চান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bn-IN" sz="2800" b="1" dirty="0">
                <a:solidFill>
                  <a:schemeClr val="accent6">
                    <a:lumMod val="50000"/>
                  </a:schemeClr>
                </a:solidFill>
              </a:rPr>
              <a:t>তাইতো ?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758733"/>
            <a:ext cx="3528060" cy="996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6573" y="6416928"/>
            <a:ext cx="6962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*** This statement is mandatory on every call (LCO and customer).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60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 :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"Be rest assured &lt;sir/mam&gt;, I will surely help you out with &lt;Shortly summarize the query&gt; </a:t>
            </a:r>
            <a:endParaRPr lang="en-US" sz="2400" b="1" dirty="0" smtClean="0"/>
          </a:p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"নিশ্চিত থাকুন &lt;স্যার/ম্যাম&gt;, আমি অবশ্যই আপনাকে 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সাহায্য </a:t>
            </a:r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করব.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1" y="6211669"/>
            <a:ext cx="6962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*** This statement is mandatory on every call (LCO and customer).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0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Empathy/Apologize statement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700020"/>
          </a:xfrm>
        </p:spPr>
        <p:txBody>
          <a:bodyPr>
            <a:normAutofit/>
          </a:bodyPr>
          <a:lstStyle/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"আপনার অসুবিধার জন্য আমি দুঃখিত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।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/>
              <a:t>“I am sorry for the inconvenience.”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5577" y="5819884"/>
            <a:ext cx="6884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&gt; Apology should be done where customer has some complaint or a perceived complaint (</a:t>
            </a:r>
            <a:r>
              <a:rPr lang="en-US" b="1" dirty="0" err="1" smtClean="0">
                <a:solidFill>
                  <a:srgbClr val="FF0000"/>
                </a:solidFill>
              </a:rPr>
              <a:t>গ্রাহকের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কিছু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অভিযোগ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থাকলে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ক্ষমা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চাওয়া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উচিত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2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Hold script :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সিস্টেমে আপনার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Details 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check </a:t>
            </a:r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করার জন্য আমার কিছু সময়ের প্রয়োজন, আমি কি আপনার কল 2 মিনিটের জন্য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hold </a:t>
            </a:r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রাখতে পারি 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?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/>
              <a:t>“I need some time to check your details in the system / process the hardware replacement. May I place your call on hold for 2 minutes?”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28600"/>
            <a:ext cx="10646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 smtClean="0">
                <a:solidFill>
                  <a:srgbClr val="FF0000"/>
                </a:solidFill>
              </a:rPr>
              <a:t>Please use the correct hold script, which is required on the call.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Hold script will not be modified at all.</a:t>
            </a:r>
          </a:p>
          <a:p>
            <a:pPr marL="342900" indent="-342900">
              <a:buAutoNum type="arabicParenR"/>
            </a:pPr>
            <a:r>
              <a:rPr lang="en-US" dirty="0" smtClean="0">
                <a:solidFill>
                  <a:srgbClr val="FF0000"/>
                </a:solidFill>
              </a:rPr>
              <a:t>Press the '‘HOLD'' button after giving the hold script </a:t>
            </a:r>
            <a:r>
              <a:rPr lang="en-US" b="1" dirty="0" smtClean="0">
                <a:solidFill>
                  <a:srgbClr val="FF0000"/>
                </a:solidFill>
              </a:rPr>
              <a:t>(pressing the ''mute'' button is mandatory).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391" y="5866799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2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2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Un-hold script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800" b="1" dirty="0">
                <a:solidFill>
                  <a:schemeClr val="accent6">
                    <a:lumMod val="50000"/>
                  </a:schemeClr>
                </a:solidFill>
              </a:rPr>
              <a:t>“হোল্ডে থাকার জন্য ধন্যবাদ</a:t>
            </a:r>
            <a:r>
              <a:rPr lang="bn-IN" sz="2800" b="1" dirty="0" smtClean="0">
                <a:solidFill>
                  <a:schemeClr val="accent6">
                    <a:lumMod val="50000"/>
                  </a:schemeClr>
                </a:solidFill>
              </a:rPr>
              <a:t>।”</a:t>
            </a:r>
            <a:endParaRPr lang="en-US" sz="2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/>
              <a:t>“Thank you for </a:t>
            </a:r>
            <a:r>
              <a:rPr lang="en-US" sz="2800" b="1" dirty="0" smtClean="0"/>
              <a:t>staying </a:t>
            </a:r>
            <a:r>
              <a:rPr lang="en-US" sz="2800" b="1" dirty="0"/>
              <a:t>on hold</a:t>
            </a:r>
            <a:r>
              <a:rPr lang="en-US" sz="2800" b="1" dirty="0" smtClean="0"/>
              <a:t>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337" y="5185954"/>
            <a:ext cx="688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Press the '‘un- mute'' button before giving the un-hold script.</a:t>
            </a:r>
            <a:endParaRPr lang="en-US" b="1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3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4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Hold </a:t>
            </a:r>
            <a:r>
              <a:rPr lang="en-US" b="1" dirty="0" smtClean="0"/>
              <a:t>Script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400" b="1" dirty="0"/>
              <a:t>“ডিটেইলস চেক করার জন্য আমার আরও কিছু সময়ের প্রয়োজন। আমি কি আপনার কল আবার ২ মিনিটের জন্য হোল্ডে রাখতে পারি</a:t>
            </a:r>
            <a:r>
              <a:rPr lang="bn-IN" sz="2400" b="1" dirty="0" smtClean="0"/>
              <a:t>?”</a:t>
            </a:r>
            <a:endParaRPr lang="en-US" sz="2400" b="1" dirty="0" smtClean="0"/>
          </a:p>
          <a:p>
            <a:r>
              <a:rPr lang="en-US" sz="2400" b="1" dirty="0"/>
              <a:t>“I need a little more time to check the details. May I place your call on hold once again for 2 minutes?”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55" y="5558135"/>
            <a:ext cx="4911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Un-hold script :</a:t>
            </a:r>
          </a:p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</a:t>
            </a:r>
            <a:r>
              <a:rPr lang="bn-IN" b="1" dirty="0" smtClean="0">
                <a:solidFill>
                  <a:schemeClr val="accent6">
                    <a:lumMod val="50000"/>
                  </a:schemeClr>
                </a:solidFill>
              </a:rPr>
              <a:t>“হোল্ডে থাকার জন্য ধন্যবাদ।”</a:t>
            </a:r>
            <a:endParaRPr lang="en-US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 smtClean="0"/>
              <a:t>&gt; “Thank you for staying on hold.”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1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</a:t>
            </a:r>
            <a:r>
              <a:rPr lang="en-US" b="1" dirty="0" smtClean="0"/>
              <a:t>urther assistance and Closing </a:t>
            </a:r>
            <a:r>
              <a:rPr lang="en-US" b="1" dirty="0"/>
              <a:t>Script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“আমি কি আপনাকে আর অন্য কোনোভাবে সাহায্য করতে পারি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?”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/>
              <a:t>“May I assist you with anything else</a:t>
            </a:r>
            <a:r>
              <a:rPr lang="en-US" sz="2400" b="1" dirty="0" smtClean="0"/>
              <a:t>?”</a:t>
            </a:r>
          </a:p>
          <a:p>
            <a:endParaRPr lang="en-US" sz="2400" b="1" dirty="0"/>
          </a:p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"জিটিপিএল-কেসিবিপিএল এ কল করার জন্য আপনাকে ধন্যবাদ, আপনার দিনটি শুভ 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হোক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r>
              <a:rPr lang="en-US" sz="2400" b="1" dirty="0"/>
              <a:t>"Thank you for calling GTPL-KCBPL, have a great day ahead"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143" y="5904411"/>
            <a:ext cx="108552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&gt; Resolution </a:t>
            </a:r>
            <a:r>
              <a:rPr lang="bn-IN" sz="1400" b="1" dirty="0" smtClean="0">
                <a:solidFill>
                  <a:srgbClr val="FF0000"/>
                </a:solidFill>
              </a:rPr>
              <a:t>দেওয়ার পর “</a:t>
            </a:r>
            <a:r>
              <a:rPr lang="en-US" sz="1400" b="1" dirty="0" smtClean="0">
                <a:solidFill>
                  <a:srgbClr val="FF0000"/>
                </a:solidFill>
              </a:rPr>
              <a:t>further assistance” </a:t>
            </a:r>
            <a:r>
              <a:rPr lang="bn-IN" sz="1400" b="1" dirty="0" smtClean="0">
                <a:solidFill>
                  <a:srgbClr val="FF0000"/>
                </a:solidFill>
              </a:rPr>
              <a:t>এবং “</a:t>
            </a:r>
            <a:r>
              <a:rPr lang="en-US" sz="1400" b="1" dirty="0" smtClean="0">
                <a:solidFill>
                  <a:srgbClr val="FF0000"/>
                </a:solidFill>
              </a:rPr>
              <a:t>closing script” </a:t>
            </a:r>
            <a:r>
              <a:rPr lang="bn-IN" sz="1400" b="1" dirty="0" smtClean="0">
                <a:solidFill>
                  <a:srgbClr val="FF0000"/>
                </a:solidFill>
              </a:rPr>
              <a:t>না বলে </a:t>
            </a:r>
            <a:r>
              <a:rPr lang="en-US" sz="1400" b="1" dirty="0" smtClean="0">
                <a:solidFill>
                  <a:srgbClr val="FF0000"/>
                </a:solidFill>
              </a:rPr>
              <a:t>customer-</a:t>
            </a:r>
            <a:r>
              <a:rPr lang="bn-IN" sz="1400" b="1" dirty="0" smtClean="0">
                <a:solidFill>
                  <a:srgbClr val="FF0000"/>
                </a:solidFill>
              </a:rPr>
              <a:t>এর </a:t>
            </a:r>
            <a:r>
              <a:rPr lang="en-US" sz="1400" b="1" dirty="0" smtClean="0">
                <a:solidFill>
                  <a:srgbClr val="FF0000"/>
                </a:solidFill>
              </a:rPr>
              <a:t>call disconnect </a:t>
            </a:r>
            <a:r>
              <a:rPr lang="bn-IN" sz="1400" b="1" dirty="0" smtClean="0">
                <a:solidFill>
                  <a:srgbClr val="FF0000"/>
                </a:solidFill>
              </a:rPr>
              <a:t>করার জন্য অপেক্ষা করেন, তাহলে “</a:t>
            </a:r>
            <a:r>
              <a:rPr lang="en-US" sz="1400" b="1" dirty="0" smtClean="0">
                <a:solidFill>
                  <a:srgbClr val="FF0000"/>
                </a:solidFill>
              </a:rPr>
              <a:t>further assistance” </a:t>
            </a:r>
            <a:r>
              <a:rPr lang="bn-IN" sz="1400" b="1" dirty="0" smtClean="0">
                <a:solidFill>
                  <a:srgbClr val="FF0000"/>
                </a:solidFill>
              </a:rPr>
              <a:t>এবং “</a:t>
            </a:r>
            <a:r>
              <a:rPr lang="en-US" sz="1400" b="1" dirty="0" smtClean="0">
                <a:solidFill>
                  <a:srgbClr val="FF0000"/>
                </a:solidFill>
              </a:rPr>
              <a:t>closing” — </a:t>
            </a:r>
            <a:r>
              <a:rPr lang="bn-IN" sz="1400" b="1" dirty="0" smtClean="0">
                <a:solidFill>
                  <a:srgbClr val="FF0000"/>
                </a:solidFill>
              </a:rPr>
              <a:t>উভয় </a:t>
            </a:r>
            <a:r>
              <a:rPr lang="en-US" sz="1400" b="1" dirty="0" smtClean="0">
                <a:solidFill>
                  <a:srgbClr val="FF0000"/>
                </a:solidFill>
              </a:rPr>
              <a:t>parameter-</a:t>
            </a:r>
            <a:r>
              <a:rPr lang="bn-IN" sz="1400" b="1" dirty="0" smtClean="0">
                <a:solidFill>
                  <a:srgbClr val="FF0000"/>
                </a:solidFill>
              </a:rPr>
              <a:t>এ </a:t>
            </a:r>
            <a:r>
              <a:rPr lang="en-US" sz="1400" b="1" dirty="0" smtClean="0">
                <a:solidFill>
                  <a:srgbClr val="FF0000"/>
                </a:solidFill>
              </a:rPr>
              <a:t>markdown </a:t>
            </a:r>
            <a:r>
              <a:rPr lang="bn-IN" sz="1400" b="1" dirty="0" smtClean="0">
                <a:solidFill>
                  <a:srgbClr val="FF0000"/>
                </a:solidFill>
              </a:rPr>
              <a:t>হবে। এখানে ৩ সেকেন্ড </a:t>
            </a:r>
            <a:r>
              <a:rPr lang="en-US" sz="1400" b="1" dirty="0" smtClean="0">
                <a:solidFill>
                  <a:srgbClr val="FF0000"/>
                </a:solidFill>
              </a:rPr>
              <a:t>dead air </a:t>
            </a:r>
            <a:r>
              <a:rPr lang="bn-IN" sz="1400" b="1" dirty="0" smtClean="0">
                <a:solidFill>
                  <a:srgbClr val="FF0000"/>
                </a:solidFill>
              </a:rPr>
              <a:t>বিবেচনা করা যেতে পারে।</a:t>
            </a: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612" y="6296296"/>
            <a:ext cx="2211387" cy="5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4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5577" y="2481943"/>
            <a:ext cx="111818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b="1" dirty="0" smtClean="0">
                <a:solidFill>
                  <a:schemeClr val="accent6">
                    <a:lumMod val="50000"/>
                  </a:schemeClr>
                </a:solidFill>
              </a:rPr>
              <a:t>আপনি </a:t>
            </a:r>
            <a:r>
              <a:rPr lang="bn-IN" b="1" dirty="0">
                <a:solidFill>
                  <a:schemeClr val="accent6">
                    <a:lumMod val="50000"/>
                  </a:schemeClr>
                </a:solidFill>
              </a:rPr>
              <a:t>কি আমার কথা শুনতে পাচ্ছেন ? (৩ বার ) , আপনার থেকে কোনো রেসপন্স না পাওয়ার জন্যে , আমি কল ডিসকানেক্ট করতে বাধ্য হচ্ছি।   "জিটিপিএল-কেসিবিপিএল এ কল করার জন্য আপনাকে ধন্যবাদ, আপনার দিনটি শুভ </a:t>
            </a:r>
            <a:r>
              <a:rPr lang="bn-IN" b="1" dirty="0" smtClean="0">
                <a:solidFill>
                  <a:schemeClr val="accent6">
                    <a:lumMod val="50000"/>
                  </a:schemeClr>
                </a:solidFill>
              </a:rPr>
              <a:t>হোক</a:t>
            </a:r>
            <a:endParaRPr lang="en-US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 smtClean="0"/>
          </a:p>
          <a:p>
            <a:r>
              <a:rPr lang="bn-IN" b="1" dirty="0" smtClean="0"/>
              <a:t>"</a:t>
            </a:r>
            <a:r>
              <a:rPr lang="en-US" b="1" dirty="0"/>
              <a:t>English - English- Can you hear me? (3 times). I am not getting any response from your side, so I am disconnecting the call, Thank you for calling GTPL-KCBPL, have a nice day OR Can you hear me? (3 times). Since there was no response from you, this call is being disconnected from my side, thank you for calling </a:t>
            </a:r>
            <a:r>
              <a:rPr lang="en-US" b="1" dirty="0" err="1"/>
              <a:t>gtpl-kcbpl</a:t>
            </a:r>
            <a:r>
              <a:rPr lang="en-US" b="1" dirty="0"/>
              <a:t>, have a nice day</a:t>
            </a:r>
            <a:r>
              <a:rPr lang="en-US" b="1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Hindi- </a:t>
            </a:r>
            <a:r>
              <a:rPr lang="en-US" b="1" dirty="0" err="1"/>
              <a:t>kya</a:t>
            </a:r>
            <a:r>
              <a:rPr lang="en-US" b="1" dirty="0"/>
              <a:t> </a:t>
            </a:r>
            <a:r>
              <a:rPr lang="en-US" b="1" dirty="0" err="1"/>
              <a:t>aap</a:t>
            </a:r>
            <a:r>
              <a:rPr lang="en-US" b="1" dirty="0"/>
              <a:t> </a:t>
            </a:r>
            <a:r>
              <a:rPr lang="en-US" b="1" dirty="0" err="1"/>
              <a:t>mujhe</a:t>
            </a:r>
            <a:r>
              <a:rPr lang="en-US" b="1" dirty="0"/>
              <a:t> sun pa </a:t>
            </a:r>
            <a:r>
              <a:rPr lang="en-US" b="1" dirty="0" err="1"/>
              <a:t>rhe</a:t>
            </a:r>
            <a:r>
              <a:rPr lang="en-US" b="1" dirty="0"/>
              <a:t> </a:t>
            </a:r>
            <a:r>
              <a:rPr lang="en-US" b="1" dirty="0" err="1"/>
              <a:t>hain</a:t>
            </a:r>
            <a:r>
              <a:rPr lang="en-US" b="1" dirty="0"/>
              <a:t>? (3 </a:t>
            </a:r>
            <a:r>
              <a:rPr lang="en-US" b="1" dirty="0" err="1"/>
              <a:t>baar</a:t>
            </a:r>
            <a:r>
              <a:rPr lang="en-US" b="1" dirty="0"/>
              <a:t>). </a:t>
            </a:r>
            <a:r>
              <a:rPr lang="en-US" b="1" dirty="0" err="1"/>
              <a:t>aapakee</a:t>
            </a:r>
            <a:r>
              <a:rPr lang="en-US" b="1" dirty="0"/>
              <a:t> </a:t>
            </a:r>
            <a:r>
              <a:rPr lang="en-US" b="1" dirty="0" err="1"/>
              <a:t>taraph</a:t>
            </a:r>
            <a:r>
              <a:rPr lang="en-US" b="1" dirty="0"/>
              <a:t> se </a:t>
            </a:r>
            <a:r>
              <a:rPr lang="en-US" b="1" dirty="0" err="1"/>
              <a:t>koee</a:t>
            </a:r>
            <a:r>
              <a:rPr lang="en-US" b="1" dirty="0"/>
              <a:t> </a:t>
            </a:r>
            <a:r>
              <a:rPr lang="en-US" b="1" dirty="0" err="1"/>
              <a:t>javaab</a:t>
            </a:r>
            <a:r>
              <a:rPr lang="en-US" b="1" dirty="0"/>
              <a:t> </a:t>
            </a:r>
            <a:r>
              <a:rPr lang="en-US" b="1" dirty="0" err="1"/>
              <a:t>nahin</a:t>
            </a:r>
            <a:r>
              <a:rPr lang="en-US" b="1" dirty="0"/>
              <a:t> </a:t>
            </a:r>
            <a:r>
              <a:rPr lang="en-US" b="1" dirty="0" err="1"/>
              <a:t>aane</a:t>
            </a:r>
            <a:r>
              <a:rPr lang="en-US" b="1" dirty="0"/>
              <a:t> </a:t>
            </a:r>
            <a:r>
              <a:rPr lang="en-US" b="1" dirty="0" err="1"/>
              <a:t>ki</a:t>
            </a:r>
            <a:r>
              <a:rPr lang="en-US" b="1" dirty="0"/>
              <a:t> </a:t>
            </a:r>
            <a:r>
              <a:rPr lang="en-US" b="1" dirty="0" err="1"/>
              <a:t>wajha</a:t>
            </a:r>
            <a:r>
              <a:rPr lang="en-US" b="1" dirty="0"/>
              <a:t> se, is call </a:t>
            </a:r>
            <a:r>
              <a:rPr lang="en-US" b="1" dirty="0" err="1"/>
              <a:t>ki</a:t>
            </a:r>
            <a:r>
              <a:rPr lang="en-US" b="1" dirty="0"/>
              <a:t> </a:t>
            </a:r>
            <a:r>
              <a:rPr lang="en-US" b="1" dirty="0" err="1"/>
              <a:t>diskanekt</a:t>
            </a:r>
            <a:r>
              <a:rPr lang="en-US" b="1" dirty="0"/>
              <a:t> </a:t>
            </a:r>
            <a:r>
              <a:rPr lang="en-US" b="1" dirty="0" err="1"/>
              <a:t>kiye</a:t>
            </a:r>
            <a:r>
              <a:rPr lang="en-US" b="1" dirty="0"/>
              <a:t> </a:t>
            </a:r>
            <a:r>
              <a:rPr lang="en-US" b="1" dirty="0" err="1"/>
              <a:t>jaa</a:t>
            </a:r>
            <a:r>
              <a:rPr lang="en-US" b="1" dirty="0"/>
              <a:t> </a:t>
            </a:r>
            <a:r>
              <a:rPr lang="en-US" b="1" dirty="0" err="1"/>
              <a:t>raha</a:t>
            </a:r>
            <a:r>
              <a:rPr lang="en-US" b="1" dirty="0"/>
              <a:t> </a:t>
            </a:r>
            <a:r>
              <a:rPr lang="en-US" b="1" dirty="0" err="1"/>
              <a:t>hain</a:t>
            </a:r>
            <a:r>
              <a:rPr lang="en-US" b="1" dirty="0"/>
              <a:t>, </a:t>
            </a:r>
            <a:r>
              <a:rPr lang="en-US" b="1" dirty="0" err="1"/>
              <a:t>gtpl-kchbpl</a:t>
            </a:r>
            <a:r>
              <a:rPr lang="en-US" b="1" dirty="0"/>
              <a:t> par call </a:t>
            </a:r>
            <a:r>
              <a:rPr lang="en-US" b="1" dirty="0" err="1"/>
              <a:t>karane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liye</a:t>
            </a:r>
            <a:r>
              <a:rPr lang="en-US" b="1" dirty="0"/>
              <a:t> </a:t>
            </a:r>
            <a:r>
              <a:rPr lang="en-US" b="1" dirty="0" err="1"/>
              <a:t>dhanyavaad</a:t>
            </a:r>
            <a:r>
              <a:rPr lang="en-US" b="1" dirty="0"/>
              <a:t>, </a:t>
            </a:r>
            <a:r>
              <a:rPr lang="en-US" b="1" dirty="0" err="1"/>
              <a:t>aapaka</a:t>
            </a:r>
            <a:r>
              <a:rPr lang="en-US" b="1" dirty="0"/>
              <a:t> din </a:t>
            </a:r>
            <a:r>
              <a:rPr lang="en-US" b="1" dirty="0" err="1"/>
              <a:t>shubh</a:t>
            </a:r>
            <a:r>
              <a:rPr lang="en-US" b="1" dirty="0"/>
              <a:t> ho.(It should be noted that no script can be modified.)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337" y="796834"/>
            <a:ext cx="93791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 script when advisor not getting any response from called side. (it's mandatory) -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944" y="6145548"/>
            <a:ext cx="2852056" cy="67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8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53005" cy="6727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944" y="6145548"/>
            <a:ext cx="2852056" cy="67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3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751599"/>
            <a:ext cx="8761413" cy="706964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SHEET :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83" y="1680633"/>
            <a:ext cx="8608423" cy="490304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156485" y="4662174"/>
            <a:ext cx="2952976" cy="8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1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2" y="91440"/>
            <a:ext cx="9857035" cy="659674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156485" y="4662174"/>
            <a:ext cx="2952976" cy="8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0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751" y="2406863"/>
            <a:ext cx="9450119" cy="14956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804" y="4251974"/>
            <a:ext cx="9431066" cy="17242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/>
          <p:cNvSpPr txBox="1"/>
          <p:nvPr/>
        </p:nvSpPr>
        <p:spPr>
          <a:xfrm>
            <a:off x="1045029" y="862149"/>
            <a:ext cx="7367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00B0F0"/>
                </a:solidFill>
              </a:rPr>
              <a:t>INFORMATION :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38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686" y="-43543"/>
            <a:ext cx="6382575" cy="5906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1599818" y="6104487"/>
            <a:ext cx="7954083" cy="923330"/>
          </a:xfrm>
          <a:prstGeom prst="rect">
            <a:avLst/>
          </a:prstGeom>
          <a:noFill/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GTPLKCBPL | QA Team</a:t>
            </a:r>
          </a:p>
        </p:txBody>
      </p:sp>
    </p:spTree>
    <p:extLst>
      <p:ext uri="{BB962C8B-B14F-4D97-AF65-F5344CB8AC3E}">
        <p14:creationId xmlns:p14="http://schemas.microsoft.com/office/powerpoint/2010/main" val="41493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35" presetClass="path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-1.59401 -0.00741 " pathEditMode="relative" rAng="0" ptsTypes="AA">
                                      <p:cBhvr>
                                        <p:cTn id="22" dur="7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70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125</TotalTime>
  <Words>742</Words>
  <Application>Microsoft Office PowerPoint</Application>
  <PresentationFormat>Widescreen</PresentationFormat>
  <Paragraphs>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Agency FB</vt:lpstr>
      <vt:lpstr>Arial</vt:lpstr>
      <vt:lpstr>Century Gothic</vt:lpstr>
      <vt:lpstr>Vrinda</vt:lpstr>
      <vt:lpstr>Wingdings 3</vt:lpstr>
      <vt:lpstr>Ion Boardroom</vt:lpstr>
      <vt:lpstr>Call Quality Training</vt:lpstr>
      <vt:lpstr>PowerPoint Presentation</vt:lpstr>
      <vt:lpstr>Opening Script : ( Opening giving within 3 seconds from call landed .)</vt:lpstr>
      <vt:lpstr>Paraphrased :</vt:lpstr>
      <vt:lpstr>Assurance :</vt:lpstr>
      <vt:lpstr>Empathy/Apologize statement :</vt:lpstr>
      <vt:lpstr>Hold script :</vt:lpstr>
      <vt:lpstr>Un-hold script :</vt:lpstr>
      <vt:lpstr>Additional Hold Script :</vt:lpstr>
      <vt:lpstr>Further assistance and Closing Script :</vt:lpstr>
      <vt:lpstr>PowerPoint Presentation</vt:lpstr>
      <vt:lpstr>PowerPoint Presentation</vt:lpstr>
      <vt:lpstr>AUDIT SHEET :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Quality Training</dc:title>
  <dc:creator>Kalyan</dc:creator>
  <cp:lastModifiedBy>Kalyan</cp:lastModifiedBy>
  <cp:revision>16</cp:revision>
  <dcterms:created xsi:type="dcterms:W3CDTF">2026-05-18T04:52:25Z</dcterms:created>
  <dcterms:modified xsi:type="dcterms:W3CDTF">2026-05-19T03:19:39Z</dcterms:modified>
</cp:coreProperties>
</file>